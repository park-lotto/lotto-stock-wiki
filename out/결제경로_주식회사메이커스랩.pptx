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414"/>
                </a:solidFill>
              </a:rPr>
              <a:t>결제경로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414"/>
                </a:solidFill>
              </a:rPr>
              <a:t>상호: 주식회사 메이커스랩   |   상점아이디(MID): dshoppv550</a:t>
            </a:r>
          </a:p>
          <a:p>
            <a:r>
              <a:rPr sz="1800" b="0">
                <a:solidFill>
                  <a:srgbClr val="141414"/>
                </a:solidFill>
              </a:rPr>
              <a:t>서비스명: 숏템메이커   |   상품명: 숏템메이커 1기 이용권 (770,000원, 이용기간 12개월)</a:t>
            </a:r>
          </a:p>
          <a:p>
            <a:r>
              <a:rPr sz="1800" b="0">
                <a:solidFill>
                  <a:srgbClr val="141414"/>
                </a:solidFill>
              </a:rPr>
              <a:t>홈페이지: https://shoppingshorts.duckdns.org</a:t>
            </a:r>
          </a:p>
          <a:p>
            <a:r>
              <a:rPr sz="1800" b="0">
                <a:solidFill>
                  <a:srgbClr val="141414"/>
                </a:solidFill>
              </a:rPr>
              <a:t/>
            </a:r>
          </a:p>
          <a:p>
            <a:r>
              <a:rPr sz="1800" b="0">
                <a:solidFill>
                  <a:srgbClr val="141414"/>
                </a:solidFill>
              </a:rPr>
              <a:t>결제경로: ① 상품(요금) 페이지 → ② 주문서 → ③ 결제자 정보 입력·약관 동의 → ④ 토스페이먼츠 결제창 → ⑤ 결제 완료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1414"/>
                </a:solidFill>
              </a:rPr>
              <a:t>STEP 1. 상품 선택 (요금 페이지)</a:t>
            </a:r>
          </a:p>
        </p:txBody>
      </p:sp>
      <p:pic>
        <p:nvPicPr>
          <p:cNvPr id="3" name="Picture 2" descr="1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680960" cy="5400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18872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41414"/>
                </a:solidFill>
              </a:rPr>
              <a:t>https://shoppingshorts.duckdns.org/pricing</a:t>
            </a:r>
          </a:p>
          <a:p>
            <a:r>
              <a:rPr sz="1500" b="0">
                <a:solidFill>
                  <a:srgbClr val="141414"/>
                </a:solidFill>
              </a:rPr>
              <a:t/>
            </a:r>
          </a:p>
          <a:p>
            <a:r>
              <a:rPr sz="1500" b="0">
                <a:solidFill>
                  <a:srgbClr val="141414"/>
                </a:solidFill>
              </a:rPr>
              <a:t>· 상품명·금액·이용기간(12개월) 표시</a:t>
            </a:r>
          </a:p>
          <a:p>
            <a:r>
              <a:rPr sz="1500" b="0">
                <a:solidFill>
                  <a:srgbClr val="141414"/>
                </a:solidFill>
              </a:rPr>
              <a:t>· [카드로 결제하기] 버튼 클릭</a:t>
            </a:r>
          </a:p>
          <a:p>
            <a:r>
              <a:rPr sz="1500" b="0">
                <a:solidFill>
                  <a:srgbClr val="141414"/>
                </a:solidFill>
              </a:rPr>
              <a:t>· 하단에 사업자정보 표기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1414"/>
                </a:solidFill>
              </a:rPr>
              <a:t>STEP 2. 주문서 페이지</a:t>
            </a:r>
          </a:p>
        </p:txBody>
      </p:sp>
      <p:pic>
        <p:nvPicPr>
          <p:cNvPr id="3" name="Picture 2" descr="2_p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680960" cy="560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18872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41414"/>
                </a:solidFill>
              </a:rPr>
              <a:t>https://shoppingshorts.duckdns.org/pay/toss</a:t>
            </a:r>
          </a:p>
          <a:p>
            <a:r>
              <a:rPr sz="1500" b="0">
                <a:solidFill>
                  <a:srgbClr val="141414"/>
                </a:solidFill>
              </a:rPr>
              <a:t/>
            </a:r>
          </a:p>
          <a:p>
            <a:r>
              <a:rPr sz="1500" b="0">
                <a:solidFill>
                  <a:srgbClr val="141414"/>
                </a:solidFill>
              </a:rPr>
              <a:t>· 상품명·결제금액 770,000원</a:t>
            </a:r>
          </a:p>
          <a:p>
            <a:r>
              <a:rPr sz="1500" b="0">
                <a:solidFill>
                  <a:srgbClr val="141414"/>
                </a:solidFill>
              </a:rPr>
              <a:t>· 이용기간: 결제일로부터 12개월</a:t>
            </a:r>
          </a:p>
          <a:p>
            <a:r>
              <a:rPr sz="1500" b="0">
                <a:solidFill>
                  <a:srgbClr val="141414"/>
                </a:solidFill>
              </a:rPr>
              <a:t>· 1기 신청서 작성(필수)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1414"/>
                </a:solidFill>
              </a:rPr>
              <a:t>STEP 3. 결제자 정보 입력·약관 동의</a:t>
            </a:r>
          </a:p>
        </p:txBody>
      </p:sp>
      <p:pic>
        <p:nvPicPr>
          <p:cNvPr id="3" name="Picture 2" descr="3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680960" cy="560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18872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41414"/>
                </a:solidFill>
              </a:rPr>
              <a:t>· 성함·연락처·이메일 입력</a:t>
            </a:r>
          </a:p>
          <a:p>
            <a:r>
              <a:rPr sz="1500" b="0">
                <a:solidFill>
                  <a:srgbClr val="141414"/>
                </a:solidFill>
              </a:rPr>
              <a:t>· 환불정책·이용약관 동의</a:t>
            </a:r>
          </a:p>
          <a:p>
            <a:r>
              <a:rPr sz="1500" b="0">
                <a:solidFill>
                  <a:srgbClr val="141414"/>
                </a:solidFill>
              </a:rPr>
              <a:t>· 환불 제한(디지털 콘텐츠) 확인 체크</a:t>
            </a:r>
          </a:p>
          <a:p>
            <a:r>
              <a:rPr sz="1500" b="0">
                <a:solidFill>
                  <a:srgbClr val="141414"/>
                </a:solidFill>
              </a:rPr>
              <a:t>· [카드로 결제하기] 클릭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1414"/>
                </a:solidFill>
              </a:rPr>
              <a:t>STEP 4. 토스페이먼츠 결제창</a:t>
            </a:r>
          </a:p>
        </p:txBody>
      </p:sp>
      <p:pic>
        <p:nvPicPr>
          <p:cNvPr id="3" name="Picture 2" descr="4_t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680960" cy="5400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18872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41414"/>
                </a:solidFill>
              </a:rPr>
              <a:t>· 결제수단 선택(간편결제·신용/체크카드)</a:t>
            </a:r>
          </a:p>
          <a:p>
            <a:r>
              <a:rPr sz="1500" b="0">
                <a:solidFill>
                  <a:srgbClr val="141414"/>
                </a:solidFill>
              </a:rPr>
              <a:t>· 상품명·결제금액 표시</a:t>
            </a:r>
          </a:p>
          <a:p>
            <a:r>
              <a:rPr sz="1500" b="0">
                <a:solidFill>
                  <a:srgbClr val="141414"/>
                </a:solidFill>
              </a:rPr>
              <a:t>※ 계약 전 테스트 키 연동 상태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1414"/>
                </a:solidFill>
              </a:rPr>
              <a:t>STEP 5. 결제 완료</a:t>
            </a:r>
          </a:p>
        </p:txBody>
      </p:sp>
      <p:pic>
        <p:nvPicPr>
          <p:cNvPr id="3" name="Picture 2" descr="5_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680960" cy="4200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18872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41414"/>
                </a:solidFill>
              </a:rPr>
              <a:t>· 결제 완료·금액·결제수단·주문번호 표시</a:t>
            </a:r>
          </a:p>
          <a:p>
            <a:r>
              <a:rPr sz="1500" b="0">
                <a:solidFill>
                  <a:srgbClr val="141414"/>
                </a:solidFill>
              </a:rPr>
              <a:t>· 결제 즉시 정식(Pro) 이용권 활성화</a:t>
            </a:r>
          </a:p>
          <a:p>
            <a:r>
              <a:rPr sz="1500" b="0">
                <a:solidFill>
                  <a:srgbClr val="141414"/>
                </a:solidFill>
              </a:rPr>
              <a:t>· 환불정책: https://shoppingshorts.duckdns.org/refund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